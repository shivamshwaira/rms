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8" r:id="rId2"/>
    <p:sldId id="259" r:id="rId3"/>
    <p:sldId id="260" r:id="rId4"/>
    <p:sldId id="265" r:id="rId5"/>
    <p:sldId id="264" r:id="rId6"/>
    <p:sldId id="263" r:id="rId7"/>
    <p:sldId id="262" r:id="rId8"/>
    <p:sldId id="266" r:id="rId9"/>
    <p:sldId id="269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 snapToGrid="0">
      <p:cViewPr varScale="1">
        <p:scale>
          <a:sx n="87" d="100"/>
          <a:sy n="87" d="100"/>
        </p:scale>
        <p:origin x="2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0FC61C-FC87-495B-AF97-82852963103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87B23-02D4-44FD-B67F-4542710176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73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87B23-02D4-44FD-B67F-4542710176A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084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87570-4C91-5622-E82A-A3E6AA9B5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5CA188-9586-637B-C316-6497A6BBBA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30A8D4-221C-B30E-17E6-B7A7DAD13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4B180-0D88-062D-B4C3-73A775B62A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87B23-02D4-44FD-B67F-4542710176A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102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02856-D747-EF47-5F18-8B2759D88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305B0E-F69C-A883-9BEE-7CFD000CA5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68947C-B07E-C56F-93EF-2CA4B5A23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5F6A2-3B2A-27E9-1B27-EF2DD2D3C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87B23-02D4-44FD-B67F-4542710176A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068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B8C47-5B34-3716-8601-682D47C3A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91B655-6449-5974-93B9-01C524D144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3C6EF2-CB68-4889-816D-71D6350B08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E4B64-1FAB-00B9-187D-D96ECAE6A5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87B23-02D4-44FD-B67F-4542710176A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254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8A70D-5A82-4803-DC02-CC6A88CE7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920D67-30C4-E173-86BF-0961F97E41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462EED-38B2-25B8-1CC2-6DD3A5F68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672E8-7534-D598-5581-7B0C73EB6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87B23-02D4-44FD-B67F-4542710176A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725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5D838-835B-64D6-3DF4-C4B4AD1E7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965610-1701-D1D0-5CF0-48305D8D2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787488-D47C-11C5-8494-D0E56E4F8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77DD8-8D7E-E82A-4059-D5FCBB3AFC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87B23-02D4-44FD-B67F-4542710176A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449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0FDC7-7A40-EB05-ACC0-5ADA65C2B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08FED7-22F3-0D92-84FC-B9BCD88F6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BCFAF9-C9CE-C3FB-E713-B2B188D887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A5CA6-C4D4-02EA-0278-635CA4776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87B23-02D4-44FD-B67F-4542710176AC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174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DDE97-1959-769C-FBC0-D963B1320A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FFBD43-43A2-2769-53C4-8E465A7076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57267-1516-A63C-2BCB-63ABD9AFD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0DD9-03BB-439B-B84F-AD92A5C1182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8AEBF-E164-CDF6-8DD8-BCA10EE59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BAEF5-B38E-80D0-8DD8-E152C78A8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188C6-5851-40DB-9E31-DC2B80B71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343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602A4-61D7-C689-3A8F-58D953867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A496D-5AA1-30E7-BFEF-E82F44E45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A4F51-AB5A-753B-A0E3-581F0A7A8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0DD9-03BB-439B-B84F-AD92A5C1182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E6644-FBEF-B54E-3528-14566D9B4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C3A50-215E-B3BE-CFE3-4A25F81A8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188C6-5851-40DB-9E31-DC2B80B71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067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6833D-A15C-B2CD-24EC-024A72234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DDD5B-3D21-3BB3-B9FD-C0972BD88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A041-51A8-4AEA-FE7B-BFD1666C6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0DD9-03BB-439B-B84F-AD92A5C1182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F8C8B-38DC-B245-1009-2BBA42D74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B9A4F-F484-BA31-A73F-779DB6C55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188C6-5851-40DB-9E31-DC2B80B71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361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2BC56-2937-85E8-F882-A4DF66461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959DB-D063-A818-B845-C3BB0D5F87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F87B59-88BD-A86E-8C9B-783C9B4C42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573AFA-9573-A534-7A58-35234B41D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0DD9-03BB-439B-B84F-AD92A5C1182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699CF-7718-E3FE-5BA5-60165B590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32491-357F-E2A4-FF2A-E2354FC8E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188C6-5851-40DB-9E31-DC2B80B71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0616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7BBA7-60CB-A16F-DB1B-6A7860D27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18317-9612-31CD-FCC6-10EE33463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118775-56CB-84CE-DFFE-465ACF498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5DEA98-514A-2FB6-4915-99304740D7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10E583-4E49-D9D2-8D8C-6EA6A49E7C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EA36AF-72C9-E88B-1102-8BAA79D32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0DD9-03BB-439B-B84F-AD92A5C1182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4B6EF8-9322-E23A-075B-D3430B50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A72AF8-6416-8847-E741-F066BE710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188C6-5851-40DB-9E31-DC2B80B71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368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54DC9-EDA3-E9AE-2FD6-7F42656A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6C2C83-B2F3-5127-F0AE-74654A8AC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0DD9-03BB-439B-B84F-AD92A5C1182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AC903-2528-38A7-4009-2E37CE159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9CDB0-99D0-038A-5EDA-E3EE6E03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188C6-5851-40DB-9E31-DC2B80B71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121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991F7B-8D5E-8CBC-6DA4-DA9E481CF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0DD9-03BB-439B-B84F-AD92A5C1182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936BD-1B07-5B24-4356-1872DE170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360D1-C5B0-5715-C63A-06CF43CA5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188C6-5851-40DB-9E31-DC2B80B71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248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0A345-E3C5-9280-3B47-7DDA4070A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D2894-8B9A-A8BF-8048-DB2B2E827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F3297D-D4F8-E57D-682A-807F931087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BA5761-208E-DCAC-4F3A-17B5F9770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0DD9-03BB-439B-B84F-AD92A5C1182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5940A-F9EA-807E-AEA5-2C847DD84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D795EF-2A9B-CEE1-239A-42735F6F5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188C6-5851-40DB-9E31-DC2B80B71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543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C6D64-5ADF-8971-ED29-762B7E0E9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DEC458-DDFE-67EF-FC1D-040E4D3B7B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57CEC6-F246-6E1D-BE89-BB0A45691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C8E0AD-81D0-7025-C615-F894BA8F0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0DD9-03BB-439B-B84F-AD92A5C1182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713E70-B404-89C9-6678-B64D8B24C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DD8D2B-B0BB-FC60-63F5-AAAE16CE2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188C6-5851-40DB-9E31-DC2B80B71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146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3D048-025C-40EF-C410-BEA727543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4AF76F-18EA-BE74-501F-89A912EA4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53191-A8FF-0CE1-D2EA-91847ADA8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0DD9-03BB-439B-B84F-AD92A5C1182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DB1E9-4809-6CAD-D632-89466A3D7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A490F-33CA-D7CE-FEA1-A5730489A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188C6-5851-40DB-9E31-DC2B80B71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148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1CA4C7-5B36-0CE6-47AC-3A3DA1E629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039A8C-7539-6F37-2BD5-EFBE71481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92993-32F6-5A43-D564-92CFDBE5D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0DD9-03BB-439B-B84F-AD92A5C1182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D6972-84CE-70A9-7BC3-5F1D51510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515A1-4248-2610-ABF5-F57F0CDE9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188C6-5851-40DB-9E31-DC2B80B71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277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B5E56D-F4A1-4DC1-A119-29928FA9E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3A007-4D6F-A457-6021-EAA74BDF5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D23F-F0F1-2F22-06F1-07A13B5F93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D20DD9-03BB-439B-B84F-AD92A5C1182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E53C1-C28F-FE7C-4B5A-9CA3D1B846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C46CB-7AC9-065C-716E-6063740C26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188C6-5851-40DB-9E31-DC2B80B71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9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115">
            <a:extLst>
              <a:ext uri="{FF2B5EF4-FFF2-40B4-BE49-F238E27FC236}">
                <a16:creationId xmlns:a16="http://schemas.microsoft.com/office/drawing/2014/main" id="{8A7B9A1F-0765-4CE0-6D51-482EE6EFED4B}"/>
              </a:ext>
            </a:extLst>
          </p:cNvPr>
          <p:cNvGrpSpPr/>
          <p:nvPr/>
        </p:nvGrpSpPr>
        <p:grpSpPr>
          <a:xfrm>
            <a:off x="310169" y="357454"/>
            <a:ext cx="11571661" cy="6143092"/>
            <a:chOff x="178904" y="355583"/>
            <a:chExt cx="11571661" cy="614309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AA177D8-71E0-F87F-04EE-D5DEB4AA06E4}"/>
                </a:ext>
              </a:extLst>
            </p:cNvPr>
            <p:cNvSpPr txBox="1"/>
            <p:nvPr/>
          </p:nvSpPr>
          <p:spPr>
            <a:xfrm>
              <a:off x="378375" y="355583"/>
              <a:ext cx="1923393" cy="46166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Resume Store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C924EF2-0A41-B8F3-6A97-F5460E14B09D}"/>
                </a:ext>
              </a:extLst>
            </p:cNvPr>
            <p:cNvSpPr txBox="1"/>
            <p:nvPr/>
          </p:nvSpPr>
          <p:spPr>
            <a:xfrm>
              <a:off x="378374" y="1350578"/>
              <a:ext cx="1923393" cy="8309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Document Processing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AC54C7D-2060-5293-224D-46D0FEB376EB}"/>
                </a:ext>
              </a:extLst>
            </p:cNvPr>
            <p:cNvSpPr txBox="1"/>
            <p:nvPr/>
          </p:nvSpPr>
          <p:spPr>
            <a:xfrm>
              <a:off x="4918841" y="565356"/>
              <a:ext cx="1923393" cy="120032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NLP</a:t>
              </a:r>
            </a:p>
            <a:p>
              <a:pPr algn="ctr"/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Parsing and Info Retrieval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42646A9-1E2A-8FDB-4159-15859470EB07}"/>
                </a:ext>
              </a:extLst>
            </p:cNvPr>
            <p:cNvSpPr txBox="1"/>
            <p:nvPr/>
          </p:nvSpPr>
          <p:spPr>
            <a:xfrm>
              <a:off x="8308428" y="934687"/>
              <a:ext cx="1923393" cy="46166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Embedding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C4CE9AC-4266-049C-C910-2CB8C132D1AC}"/>
                </a:ext>
              </a:extLst>
            </p:cNvPr>
            <p:cNvSpPr txBox="1"/>
            <p:nvPr/>
          </p:nvSpPr>
          <p:spPr>
            <a:xfrm>
              <a:off x="10368455" y="2661521"/>
              <a:ext cx="1382110" cy="83099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Storage</a:t>
              </a:r>
            </a:p>
            <a:p>
              <a:pPr algn="ctr"/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Layer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3EFB566-C16F-EA86-616A-48D8A6D5DA56}"/>
                </a:ext>
              </a:extLst>
            </p:cNvPr>
            <p:cNvSpPr txBox="1"/>
            <p:nvPr/>
          </p:nvSpPr>
          <p:spPr>
            <a:xfrm>
              <a:off x="7478108" y="2013496"/>
              <a:ext cx="1923393" cy="83099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MongoDB (Profiles)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DD3FDA5-B29D-9F84-7BCA-DAF3B1410402}"/>
                </a:ext>
              </a:extLst>
            </p:cNvPr>
            <p:cNvSpPr txBox="1"/>
            <p:nvPr/>
          </p:nvSpPr>
          <p:spPr>
            <a:xfrm>
              <a:off x="7478110" y="3308712"/>
              <a:ext cx="1923393" cy="83099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VectorDB</a:t>
              </a:r>
              <a:endParaRPr lang="en-I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(Embeddings)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217EDC4-9658-07D2-030D-CC626C8013C7}"/>
                </a:ext>
              </a:extLst>
            </p:cNvPr>
            <p:cNvSpPr txBox="1"/>
            <p:nvPr/>
          </p:nvSpPr>
          <p:spPr>
            <a:xfrm>
              <a:off x="1548508" y="2625240"/>
              <a:ext cx="1506518" cy="83099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Skills Extraction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18C7931-70B7-8973-48CD-DE04C2D525C8}"/>
                </a:ext>
              </a:extLst>
            </p:cNvPr>
            <p:cNvSpPr txBox="1"/>
            <p:nvPr/>
          </p:nvSpPr>
          <p:spPr>
            <a:xfrm>
              <a:off x="4550977" y="3020163"/>
              <a:ext cx="1923393" cy="830997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Matching &amp; Scoring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3672996-E709-8FA9-36FE-3B5D46EEC7C3}"/>
                </a:ext>
              </a:extLst>
            </p:cNvPr>
            <p:cNvSpPr txBox="1"/>
            <p:nvPr/>
          </p:nvSpPr>
          <p:spPr>
            <a:xfrm>
              <a:off x="4550978" y="5298346"/>
              <a:ext cx="1923393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Resume Formatting and Export</a:t>
              </a:r>
            </a:p>
          </p:txBody>
        </p:sp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F991E00F-86A5-DAC3-DE9A-FF8B901F3D1E}"/>
                </a:ext>
              </a:extLst>
            </p:cNvPr>
            <p:cNvCxnSpPr>
              <a:stCxn id="3" idx="2"/>
              <a:endCxn id="4" idx="0"/>
            </p:cNvCxnSpPr>
            <p:nvPr/>
          </p:nvCxnSpPr>
          <p:spPr>
            <a:xfrm rot="5400000">
              <a:off x="1073407" y="1083913"/>
              <a:ext cx="533330" cy="1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Connector: Elbow 16">
              <a:extLst>
                <a:ext uri="{FF2B5EF4-FFF2-40B4-BE49-F238E27FC236}">
                  <a16:creationId xmlns:a16="http://schemas.microsoft.com/office/drawing/2014/main" id="{B6618D44-00C4-CC39-76B6-3BCD7658CBE6}"/>
                </a:ext>
              </a:extLst>
            </p:cNvPr>
            <p:cNvCxnSpPr>
              <a:stCxn id="4" idx="3"/>
              <a:endCxn id="5" idx="1"/>
            </p:cNvCxnSpPr>
            <p:nvPr/>
          </p:nvCxnSpPr>
          <p:spPr>
            <a:xfrm flipV="1">
              <a:off x="2301767" y="1165521"/>
              <a:ext cx="2617074" cy="600556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nector: Elbow 18">
              <a:extLst>
                <a:ext uri="{FF2B5EF4-FFF2-40B4-BE49-F238E27FC236}">
                  <a16:creationId xmlns:a16="http://schemas.microsoft.com/office/drawing/2014/main" id="{82BD372D-DD7D-F163-BD8E-EC696A74739E}"/>
                </a:ext>
              </a:extLst>
            </p:cNvPr>
            <p:cNvCxnSpPr>
              <a:stCxn id="5" idx="3"/>
              <a:endCxn id="6" idx="1"/>
            </p:cNvCxnSpPr>
            <p:nvPr/>
          </p:nvCxnSpPr>
          <p:spPr>
            <a:xfrm flipV="1">
              <a:off x="6842234" y="1165520"/>
              <a:ext cx="1466194" cy="1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Connector: Elbow 20">
              <a:extLst>
                <a:ext uri="{FF2B5EF4-FFF2-40B4-BE49-F238E27FC236}">
                  <a16:creationId xmlns:a16="http://schemas.microsoft.com/office/drawing/2014/main" id="{45A6EC2F-3A6D-499A-525B-4D7DA5412964}"/>
                </a:ext>
              </a:extLst>
            </p:cNvPr>
            <p:cNvCxnSpPr>
              <a:cxnSpLocks/>
              <a:stCxn id="6" idx="3"/>
              <a:endCxn id="7" idx="0"/>
            </p:cNvCxnSpPr>
            <p:nvPr/>
          </p:nvCxnSpPr>
          <p:spPr>
            <a:xfrm>
              <a:off x="10231821" y="1165520"/>
              <a:ext cx="827689" cy="1496001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B48968FF-08BF-C898-ECFF-11F70F79B701}"/>
                </a:ext>
              </a:extLst>
            </p:cNvPr>
            <p:cNvCxnSpPr>
              <a:cxnSpLocks/>
              <a:stCxn id="7" idx="1"/>
              <a:endCxn id="8" idx="3"/>
            </p:cNvCxnSpPr>
            <p:nvPr/>
          </p:nvCxnSpPr>
          <p:spPr>
            <a:xfrm rot="10800000">
              <a:off x="9401501" y="2428996"/>
              <a:ext cx="966954" cy="648025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Connector: Elbow 27">
              <a:extLst>
                <a:ext uri="{FF2B5EF4-FFF2-40B4-BE49-F238E27FC236}">
                  <a16:creationId xmlns:a16="http://schemas.microsoft.com/office/drawing/2014/main" id="{F78BEDC6-57A7-ED9E-D483-064B26A2C10B}"/>
                </a:ext>
              </a:extLst>
            </p:cNvPr>
            <p:cNvCxnSpPr>
              <a:cxnSpLocks/>
              <a:stCxn id="7" idx="1"/>
              <a:endCxn id="9" idx="3"/>
            </p:cNvCxnSpPr>
            <p:nvPr/>
          </p:nvCxnSpPr>
          <p:spPr>
            <a:xfrm rot="10800000" flipV="1">
              <a:off x="9401503" y="3077019"/>
              <a:ext cx="966952" cy="647191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F148C075-4CD9-C45F-662D-40FA7488AE6C}"/>
                </a:ext>
              </a:extLst>
            </p:cNvPr>
            <p:cNvCxnSpPr>
              <a:cxnSpLocks/>
              <a:stCxn id="10" idx="3"/>
              <a:endCxn id="11" idx="1"/>
            </p:cNvCxnSpPr>
            <p:nvPr/>
          </p:nvCxnSpPr>
          <p:spPr>
            <a:xfrm>
              <a:off x="3055026" y="3040739"/>
              <a:ext cx="1495951" cy="394923"/>
            </a:xfrm>
            <a:prstGeom prst="bentConnector3">
              <a:avLst>
                <a:gd name="adj1" fmla="val 56877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631BA70C-09AD-F809-2B37-19F35048A05D}"/>
                </a:ext>
              </a:extLst>
            </p:cNvPr>
            <p:cNvCxnSpPr>
              <a:cxnSpLocks/>
              <a:stCxn id="9" idx="1"/>
              <a:endCxn id="11" idx="3"/>
            </p:cNvCxnSpPr>
            <p:nvPr/>
          </p:nvCxnSpPr>
          <p:spPr>
            <a:xfrm rot="10800000">
              <a:off x="6474370" y="3435663"/>
              <a:ext cx="1003740" cy="288549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Connector: Elbow 36">
              <a:extLst>
                <a:ext uri="{FF2B5EF4-FFF2-40B4-BE49-F238E27FC236}">
                  <a16:creationId xmlns:a16="http://schemas.microsoft.com/office/drawing/2014/main" id="{D38BC1AD-FE6E-191D-49E6-03068505AB00}"/>
                </a:ext>
              </a:extLst>
            </p:cNvPr>
            <p:cNvCxnSpPr>
              <a:cxnSpLocks/>
              <a:stCxn id="8" idx="1"/>
              <a:endCxn id="11" idx="0"/>
            </p:cNvCxnSpPr>
            <p:nvPr/>
          </p:nvCxnSpPr>
          <p:spPr>
            <a:xfrm rot="10800000" flipV="1">
              <a:off x="5512674" y="2428995"/>
              <a:ext cx="1965434" cy="591168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Connector: Elbow 38">
              <a:extLst>
                <a:ext uri="{FF2B5EF4-FFF2-40B4-BE49-F238E27FC236}">
                  <a16:creationId xmlns:a16="http://schemas.microsoft.com/office/drawing/2014/main" id="{852A194E-AD0D-E70D-DBD0-D23D04D110DB}"/>
                </a:ext>
              </a:extLst>
            </p:cNvPr>
            <p:cNvCxnSpPr>
              <a:cxnSpLocks/>
              <a:stCxn id="11" idx="2"/>
              <a:endCxn id="13" idx="0"/>
            </p:cNvCxnSpPr>
            <p:nvPr/>
          </p:nvCxnSpPr>
          <p:spPr>
            <a:xfrm rot="16200000" flipH="1">
              <a:off x="4789081" y="4574752"/>
              <a:ext cx="1447186" cy="1"/>
            </a:xfrm>
            <a:prstGeom prst="bentConnector3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F75AC63-406A-45A3-EC9F-AC149DD21AC9}"/>
                </a:ext>
              </a:extLst>
            </p:cNvPr>
            <p:cNvSpPr txBox="1"/>
            <p:nvPr/>
          </p:nvSpPr>
          <p:spPr>
            <a:xfrm>
              <a:off x="1340069" y="3781338"/>
              <a:ext cx="1923393" cy="46166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Embedding</a:t>
              </a:r>
            </a:p>
          </p:txBody>
        </p:sp>
        <p:cxnSp>
          <p:nvCxnSpPr>
            <p:cNvPr id="62" name="Connector: Elbow 61">
              <a:extLst>
                <a:ext uri="{FF2B5EF4-FFF2-40B4-BE49-F238E27FC236}">
                  <a16:creationId xmlns:a16="http://schemas.microsoft.com/office/drawing/2014/main" id="{DC24030B-36B0-39F9-822B-20DC0C48205F}"/>
                </a:ext>
              </a:extLst>
            </p:cNvPr>
            <p:cNvCxnSpPr>
              <a:cxnSpLocks/>
              <a:stCxn id="61" idx="3"/>
              <a:endCxn id="11" idx="1"/>
            </p:cNvCxnSpPr>
            <p:nvPr/>
          </p:nvCxnSpPr>
          <p:spPr>
            <a:xfrm flipV="1">
              <a:off x="3263462" y="3435662"/>
              <a:ext cx="1287515" cy="576509"/>
            </a:xfrm>
            <a:prstGeom prst="bentConnector3">
              <a:avLst>
                <a:gd name="adj1" fmla="val 50001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0E50891-E340-66D1-CD6A-6D8A75EA014B}"/>
                </a:ext>
              </a:extLst>
            </p:cNvPr>
            <p:cNvSpPr txBox="1"/>
            <p:nvPr/>
          </p:nvSpPr>
          <p:spPr>
            <a:xfrm>
              <a:off x="178904" y="4661581"/>
              <a:ext cx="1023730" cy="830997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</a:t>
              </a:r>
            </a:p>
            <a:p>
              <a:pPr algn="ctr"/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</a:p>
          </p:txBody>
        </p:sp>
        <p:cxnSp>
          <p:nvCxnSpPr>
            <p:cNvPr id="67" name="Connector: Elbow 66">
              <a:extLst>
                <a:ext uri="{FF2B5EF4-FFF2-40B4-BE49-F238E27FC236}">
                  <a16:creationId xmlns:a16="http://schemas.microsoft.com/office/drawing/2014/main" id="{35256969-C681-CB8A-C08C-49CEB8192265}"/>
                </a:ext>
              </a:extLst>
            </p:cNvPr>
            <p:cNvCxnSpPr>
              <a:cxnSpLocks/>
              <a:stCxn id="65" idx="0"/>
              <a:endCxn id="10" idx="1"/>
            </p:cNvCxnSpPr>
            <p:nvPr/>
          </p:nvCxnSpPr>
          <p:spPr>
            <a:xfrm rot="5400000" flipH="1" flipV="1">
              <a:off x="309217" y="3422291"/>
              <a:ext cx="1620842" cy="85773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Connector: Elbow 68">
              <a:extLst>
                <a:ext uri="{FF2B5EF4-FFF2-40B4-BE49-F238E27FC236}">
                  <a16:creationId xmlns:a16="http://schemas.microsoft.com/office/drawing/2014/main" id="{E4F17FBD-99FA-9A3A-A315-47E352AFC82C}"/>
                </a:ext>
              </a:extLst>
            </p:cNvPr>
            <p:cNvCxnSpPr>
              <a:cxnSpLocks/>
              <a:stCxn id="65" idx="0"/>
              <a:endCxn id="61" idx="1"/>
            </p:cNvCxnSpPr>
            <p:nvPr/>
          </p:nvCxnSpPr>
          <p:spPr>
            <a:xfrm rot="5400000" flipH="1" flipV="1">
              <a:off x="690714" y="4012226"/>
              <a:ext cx="649410" cy="649300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6AACF02-A9D7-CBC7-3888-74826B821D55}"/>
              </a:ext>
            </a:extLst>
          </p:cNvPr>
          <p:cNvSpPr txBox="1"/>
          <p:nvPr/>
        </p:nvSpPr>
        <p:spPr>
          <a:xfrm>
            <a:off x="2585546" y="1408904"/>
            <a:ext cx="998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Raw text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0088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1F6479-D8FA-4494-FB56-22C2E05CAE84}"/>
              </a:ext>
            </a:extLst>
          </p:cNvPr>
          <p:cNvSpPr txBox="1"/>
          <p:nvPr/>
        </p:nvSpPr>
        <p:spPr>
          <a:xfrm>
            <a:off x="4881282" y="663388"/>
            <a:ext cx="24294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Folder / Store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EC56C9-3318-1E9E-4B7E-54A13F43998D}"/>
              </a:ext>
            </a:extLst>
          </p:cNvPr>
          <p:cNvSpPr txBox="1"/>
          <p:nvPr/>
        </p:nvSpPr>
        <p:spPr>
          <a:xfrm>
            <a:off x="2059925" y="2508627"/>
            <a:ext cx="110256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.pdf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66F6CE-4210-F733-69BE-9A02FB629E41}"/>
              </a:ext>
            </a:extLst>
          </p:cNvPr>
          <p:cNvSpPr txBox="1"/>
          <p:nvPr/>
        </p:nvSpPr>
        <p:spPr>
          <a:xfrm>
            <a:off x="4385502" y="2510407"/>
            <a:ext cx="1650659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0E9794-1324-18C9-7FAC-FBD14871797B}"/>
              </a:ext>
            </a:extLst>
          </p:cNvPr>
          <p:cNvSpPr txBox="1"/>
          <p:nvPr/>
        </p:nvSpPr>
        <p:spPr>
          <a:xfrm>
            <a:off x="9968748" y="2508627"/>
            <a:ext cx="1650659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.docx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2376B0-E58D-AE61-E502-AFB7BC3EEDDC}"/>
              </a:ext>
            </a:extLst>
          </p:cNvPr>
          <p:cNvSpPr txBox="1"/>
          <p:nvPr/>
        </p:nvSpPr>
        <p:spPr>
          <a:xfrm>
            <a:off x="567019" y="5401268"/>
            <a:ext cx="1596317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PyMuPDF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FAF5D9-975B-E8A5-37AA-5022FECD791B}"/>
              </a:ext>
            </a:extLst>
          </p:cNvPr>
          <p:cNvSpPr txBox="1"/>
          <p:nvPr/>
        </p:nvSpPr>
        <p:spPr>
          <a:xfrm>
            <a:off x="567019" y="3822558"/>
            <a:ext cx="159631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Text-based pdf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BDB083-872C-0EF0-115F-27801FDB6FF5}"/>
              </a:ext>
            </a:extLst>
          </p:cNvPr>
          <p:cNvSpPr txBox="1"/>
          <p:nvPr/>
        </p:nvSpPr>
        <p:spPr>
          <a:xfrm>
            <a:off x="2646831" y="3822557"/>
            <a:ext cx="159631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Scanned pdf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534C02-C210-3AFF-E875-F3E3F3AA6838}"/>
              </a:ext>
            </a:extLst>
          </p:cNvPr>
          <p:cNvSpPr txBox="1"/>
          <p:nvPr/>
        </p:nvSpPr>
        <p:spPr>
          <a:xfrm>
            <a:off x="5050153" y="5401268"/>
            <a:ext cx="1736639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PaddleOCR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5D3D3C-8272-84CA-3790-F7E8D910384D}"/>
              </a:ext>
            </a:extLst>
          </p:cNvPr>
          <p:cNvSpPr txBox="1"/>
          <p:nvPr/>
        </p:nvSpPr>
        <p:spPr>
          <a:xfrm>
            <a:off x="9821140" y="5401267"/>
            <a:ext cx="1945874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Python-docx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2B0050F9-8E78-A541-1575-9C361461F364}"/>
              </a:ext>
            </a:extLst>
          </p:cNvPr>
          <p:cNvCxnSpPr>
            <a:cxnSpLocks/>
            <a:stCxn id="3" idx="2"/>
            <a:endCxn id="10" idx="0"/>
          </p:cNvCxnSpPr>
          <p:nvPr/>
        </p:nvCxnSpPr>
        <p:spPr>
          <a:xfrm rot="5400000">
            <a:off x="1592839" y="2804187"/>
            <a:ext cx="790711" cy="12460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B4E47A15-CE9F-5274-0742-21265959F1DD}"/>
              </a:ext>
            </a:extLst>
          </p:cNvPr>
          <p:cNvCxnSpPr>
            <a:cxnSpLocks/>
            <a:stCxn id="3" idx="2"/>
            <a:endCxn id="11" idx="0"/>
          </p:cNvCxnSpPr>
          <p:nvPr/>
        </p:nvCxnSpPr>
        <p:spPr>
          <a:xfrm rot="16200000" flipH="1">
            <a:off x="2632744" y="3010311"/>
            <a:ext cx="790710" cy="83378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F95666D-0E69-D46E-2129-5A72E35728C6}"/>
              </a:ext>
            </a:extLst>
          </p:cNvPr>
          <p:cNvCxnSpPr>
            <a:stCxn id="10" idx="2"/>
            <a:endCxn id="9" idx="0"/>
          </p:cNvCxnSpPr>
          <p:nvPr/>
        </p:nvCxnSpPr>
        <p:spPr>
          <a:xfrm>
            <a:off x="1365178" y="4653555"/>
            <a:ext cx="0" cy="747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EF9A08DF-9727-511C-18BC-688BA7457FB2}"/>
              </a:ext>
            </a:extLst>
          </p:cNvPr>
          <p:cNvCxnSpPr>
            <a:stCxn id="4" idx="2"/>
            <a:endCxn id="12" idx="0"/>
          </p:cNvCxnSpPr>
          <p:nvPr/>
        </p:nvCxnSpPr>
        <p:spPr>
          <a:xfrm rot="16200000" flipH="1">
            <a:off x="4380832" y="3863626"/>
            <a:ext cx="2367641" cy="70764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A0C1236F-30F1-E98D-7E38-88C48E5175E0}"/>
              </a:ext>
            </a:extLst>
          </p:cNvPr>
          <p:cNvCxnSpPr>
            <a:stCxn id="11" idx="2"/>
            <a:endCxn id="12" idx="1"/>
          </p:cNvCxnSpPr>
          <p:nvPr/>
        </p:nvCxnSpPr>
        <p:spPr>
          <a:xfrm rot="16200000" flipH="1">
            <a:off x="3758298" y="4340245"/>
            <a:ext cx="978547" cy="16051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C94466DA-9644-F4CA-431D-973F66354A7F}"/>
              </a:ext>
            </a:extLst>
          </p:cNvPr>
          <p:cNvCxnSpPr>
            <a:stCxn id="5" idx="2"/>
            <a:endCxn id="13" idx="0"/>
          </p:cNvCxnSpPr>
          <p:nvPr/>
        </p:nvCxnSpPr>
        <p:spPr>
          <a:xfrm rot="5400000">
            <a:off x="9609368" y="4216557"/>
            <a:ext cx="2369420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F8A4241-C88C-36EA-BDDD-895275468A52}"/>
              </a:ext>
            </a:extLst>
          </p:cNvPr>
          <p:cNvSpPr txBox="1"/>
          <p:nvPr/>
        </p:nvSpPr>
        <p:spPr>
          <a:xfrm>
            <a:off x="7259171" y="2508629"/>
            <a:ext cx="1650659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3E0BAC-8A1C-7D3B-D2C6-533EE9E91004}"/>
              </a:ext>
            </a:extLst>
          </p:cNvPr>
          <p:cNvSpPr txBox="1"/>
          <p:nvPr/>
        </p:nvSpPr>
        <p:spPr>
          <a:xfrm>
            <a:off x="7259170" y="3893201"/>
            <a:ext cx="1650659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Tika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29E6E93-3318-4494-4464-1B9408A9CA4C}"/>
              </a:ext>
            </a:extLst>
          </p:cNvPr>
          <p:cNvCxnSpPr>
            <a:stCxn id="34" idx="2"/>
            <a:endCxn id="35" idx="0"/>
          </p:cNvCxnSpPr>
          <p:nvPr/>
        </p:nvCxnSpPr>
        <p:spPr>
          <a:xfrm flipH="1">
            <a:off x="8084500" y="3031849"/>
            <a:ext cx="1" cy="861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631C95E5-8AF6-E640-61D4-5A973872DF69}"/>
              </a:ext>
            </a:extLst>
          </p:cNvPr>
          <p:cNvCxnSpPr>
            <a:stCxn id="35" idx="2"/>
            <a:endCxn id="12" idx="3"/>
          </p:cNvCxnSpPr>
          <p:nvPr/>
        </p:nvCxnSpPr>
        <p:spPr>
          <a:xfrm rot="5400000">
            <a:off x="6981695" y="4529295"/>
            <a:ext cx="907903" cy="129770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BEB6D972-3A66-D26F-14A4-6C1EFC216020}"/>
              </a:ext>
            </a:extLst>
          </p:cNvPr>
          <p:cNvCxnSpPr>
            <a:stCxn id="2" idx="2"/>
            <a:endCxn id="3" idx="0"/>
          </p:cNvCxnSpPr>
          <p:nvPr/>
        </p:nvCxnSpPr>
        <p:spPr>
          <a:xfrm rot="5400000">
            <a:off x="3908039" y="320666"/>
            <a:ext cx="891132" cy="34847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255C0108-8925-7890-F6B3-1F890AEECEDC}"/>
              </a:ext>
            </a:extLst>
          </p:cNvPr>
          <p:cNvCxnSpPr>
            <a:stCxn id="2" idx="2"/>
            <a:endCxn id="4" idx="0"/>
          </p:cNvCxnSpPr>
          <p:nvPr/>
        </p:nvCxnSpPr>
        <p:spPr>
          <a:xfrm rot="5400000">
            <a:off x="5206960" y="1621367"/>
            <a:ext cx="892912" cy="8851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F164B00B-6D0E-22CF-26A6-6411F0F02275}"/>
              </a:ext>
            </a:extLst>
          </p:cNvPr>
          <p:cNvCxnSpPr>
            <a:cxnSpLocks/>
            <a:stCxn id="2" idx="2"/>
            <a:endCxn id="34" idx="0"/>
          </p:cNvCxnSpPr>
          <p:nvPr/>
        </p:nvCxnSpPr>
        <p:spPr>
          <a:xfrm rot="16200000" flipH="1">
            <a:off x="6644683" y="1068811"/>
            <a:ext cx="891134" cy="198850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DA6932B1-CF5F-4C65-DA58-352A1FC7DB77}"/>
              </a:ext>
            </a:extLst>
          </p:cNvPr>
          <p:cNvCxnSpPr>
            <a:stCxn id="2" idx="2"/>
            <a:endCxn id="5" idx="0"/>
          </p:cNvCxnSpPr>
          <p:nvPr/>
        </p:nvCxnSpPr>
        <p:spPr>
          <a:xfrm rot="16200000" flipH="1">
            <a:off x="7999473" y="-285978"/>
            <a:ext cx="891132" cy="469807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6357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D896C-0F22-0080-9D81-7324883F7E48}"/>
              </a:ext>
            </a:extLst>
          </p:cNvPr>
          <p:cNvSpPr txBox="1">
            <a:spLocks/>
          </p:cNvSpPr>
          <p:nvPr/>
        </p:nvSpPr>
        <p:spPr>
          <a:xfrm>
            <a:off x="838200" y="666209"/>
            <a:ext cx="10515600" cy="99532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latin typeface="Arial Black" panose="020B0A04020102020204" pitchFamily="34" charset="0"/>
              </a:rPr>
              <a:t>NLP Layer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C0AFA1-FE02-93D0-13F7-53C496493F1E}"/>
              </a:ext>
            </a:extLst>
          </p:cNvPr>
          <p:cNvSpPr txBox="1"/>
          <p:nvPr/>
        </p:nvSpPr>
        <p:spPr>
          <a:xfrm>
            <a:off x="622151" y="1842646"/>
            <a:ext cx="5337585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Classifcation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sections like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Skills, Experience, Projects, Education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How?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 Matching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regex patterns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18D7AA-3A72-0D2E-64F1-AA3779D50738}"/>
              </a:ext>
            </a:extLst>
          </p:cNvPr>
          <p:cNvSpPr txBox="1"/>
          <p:nvPr/>
        </p:nvSpPr>
        <p:spPr>
          <a:xfrm>
            <a:off x="6314739" y="1842646"/>
            <a:ext cx="533758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Extraction: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skills dictionary: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Company’s custom skills list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 list (Python, AWS, React,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PySpark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How?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 / Keyword matching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Flashtext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KeyBERT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875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3C4CD-295A-7ABB-5F79-F9C6A0F6E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32097-3550-938D-13CF-0BF1B0D66E46}"/>
              </a:ext>
            </a:extLst>
          </p:cNvPr>
          <p:cNvSpPr txBox="1">
            <a:spLocks/>
          </p:cNvSpPr>
          <p:nvPr/>
        </p:nvSpPr>
        <p:spPr>
          <a:xfrm>
            <a:off x="838200" y="666209"/>
            <a:ext cx="10515600" cy="99532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latin typeface="Arial Black" panose="020B0A04020102020204" pitchFamily="34" charset="0"/>
              </a:rPr>
              <a:t>NLP Layer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20220D-CD2E-4351-C9F4-98B49908F126}"/>
              </a:ext>
            </a:extLst>
          </p:cNvPr>
          <p:cNvSpPr txBox="1"/>
          <p:nvPr/>
        </p:nvSpPr>
        <p:spPr>
          <a:xfrm>
            <a:off x="737796" y="1961485"/>
            <a:ext cx="515739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Extraction: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the years of experience from the profile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How? 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RegEx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rule based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Parsing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9AD920-0200-B327-6024-B7C93553B6E5}"/>
              </a:ext>
            </a:extLst>
          </p:cNvPr>
          <p:cNvSpPr txBox="1"/>
          <p:nvPr/>
        </p:nvSpPr>
        <p:spPr>
          <a:xfrm>
            <a:off x="6379285" y="1961485"/>
            <a:ext cx="515739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Generation: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 extracted data to numerical vector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Sentence-Transformers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all-MiniLM-L6-v2 (fast + small)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-small 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 (very good accuracy)</a:t>
            </a:r>
          </a:p>
        </p:txBody>
      </p:sp>
    </p:spTree>
    <p:extLst>
      <p:ext uri="{BB962C8B-B14F-4D97-AF65-F5344CB8AC3E}">
        <p14:creationId xmlns:p14="http://schemas.microsoft.com/office/powerpoint/2010/main" val="429310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DC54EF-E9B1-BB54-5AAC-CB5099AFFE4A}"/>
              </a:ext>
            </a:extLst>
          </p:cNvPr>
          <p:cNvSpPr txBox="1"/>
          <p:nvPr/>
        </p:nvSpPr>
        <p:spPr>
          <a:xfrm>
            <a:off x="860724" y="400046"/>
            <a:ext cx="104705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Data would be in Plain text format. 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 contains:</a:t>
            </a:r>
          </a:p>
          <a:p>
            <a:pPr marL="342900" indent="-342900"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Headers and Footers</a:t>
            </a:r>
          </a:p>
          <a:p>
            <a:pPr marL="342900" indent="-342900"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Numbers</a:t>
            </a:r>
          </a:p>
          <a:p>
            <a:pPr marL="342900" indent="-342900"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0AB666-EBDC-68B5-FE4B-86D54AA6A232}"/>
              </a:ext>
            </a:extLst>
          </p:cNvPr>
          <p:cNvSpPr txBox="1"/>
          <p:nvPr/>
        </p:nvSpPr>
        <p:spPr>
          <a:xfrm>
            <a:off x="860724" y="2882373"/>
            <a:ext cx="104705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cleaned text then needs to be pre-processed.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Splitting into different sections (name, skills, summary, education, projects, etc.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951BEB-E87A-A0C9-DC0F-334D26E4B823}"/>
              </a:ext>
            </a:extLst>
          </p:cNvPr>
          <p:cNvSpPr txBox="1"/>
          <p:nvPr/>
        </p:nvSpPr>
        <p:spPr>
          <a:xfrm>
            <a:off x="860724" y="4441370"/>
            <a:ext cx="51739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comes Entity Level Extractions: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list</a:t>
            </a:r>
          </a:p>
          <a:p>
            <a:pPr marL="342900" indent="-342900"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years</a:t>
            </a:r>
          </a:p>
          <a:p>
            <a:pPr marL="342900" indent="-342900"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</a:t>
            </a:r>
          </a:p>
          <a:p>
            <a:pPr marL="342900" indent="-342900"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E6953F-E0AA-DE67-C498-E66C57B69815}"/>
              </a:ext>
            </a:extLst>
          </p:cNvPr>
          <p:cNvSpPr txBox="1"/>
          <p:nvPr/>
        </p:nvSpPr>
        <p:spPr>
          <a:xfrm>
            <a:off x="3840592" y="5056923"/>
            <a:ext cx="43157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titles</a:t>
            </a:r>
            <a:endParaRPr lang="en-IN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 startAt="5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endParaRPr lang="en-IN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2EFF390-5A05-7174-4D46-057D6B63074F}"/>
              </a:ext>
            </a:extLst>
          </p:cNvPr>
          <p:cNvCxnSpPr>
            <a:cxnSpLocks/>
          </p:cNvCxnSpPr>
          <p:nvPr/>
        </p:nvCxnSpPr>
        <p:spPr>
          <a:xfrm>
            <a:off x="439952" y="2848083"/>
            <a:ext cx="1139009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28B346-E8AD-38B1-1F93-5C9BF665E814}"/>
              </a:ext>
            </a:extLst>
          </p:cNvPr>
          <p:cNvCxnSpPr>
            <a:cxnSpLocks/>
          </p:cNvCxnSpPr>
          <p:nvPr/>
        </p:nvCxnSpPr>
        <p:spPr>
          <a:xfrm>
            <a:off x="474242" y="4363153"/>
            <a:ext cx="1139009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069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2FB38-7798-66AD-00FF-C4C2DB15C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68AF9-704F-2D2A-DE9D-9C0473FCA3B7}"/>
              </a:ext>
            </a:extLst>
          </p:cNvPr>
          <p:cNvSpPr txBox="1">
            <a:spLocks/>
          </p:cNvSpPr>
          <p:nvPr/>
        </p:nvSpPr>
        <p:spPr>
          <a:xfrm>
            <a:off x="838200" y="386507"/>
            <a:ext cx="10515600" cy="99532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Storage Layer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EB3527-B811-0041-DEA3-A805A710568A}"/>
              </a:ext>
            </a:extLst>
          </p:cNvPr>
          <p:cNvSpPr txBox="1"/>
          <p:nvPr/>
        </p:nvSpPr>
        <p:spPr>
          <a:xfrm>
            <a:off x="999564" y="1572439"/>
            <a:ext cx="4874111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Storage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full extracted JSON: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“</a:t>
            </a:r>
            <a:r>
              <a:rPr lang="en-US" sz="20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employee_id</a:t>
            </a:r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": "emp_90001",</a:t>
            </a:r>
          </a:p>
          <a:p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"name": “</a:t>
            </a:r>
            <a:r>
              <a:rPr lang="en-US" sz="20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xyz</a:t>
            </a:r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",</a:t>
            </a:r>
          </a:p>
          <a:p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"skills": […………..],</a:t>
            </a:r>
          </a:p>
          <a:p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"</a:t>
            </a:r>
            <a:r>
              <a:rPr lang="en-US" sz="20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experience_years</a:t>
            </a:r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": 4,</a:t>
            </a:r>
          </a:p>
          <a:p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"sections": {………….},</a:t>
            </a:r>
          </a:p>
          <a:p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"</a:t>
            </a:r>
            <a:r>
              <a:rPr lang="en-US" sz="20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raw_text</a:t>
            </a:r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": “…………….",</a:t>
            </a:r>
          </a:p>
          <a:p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"</a:t>
            </a:r>
            <a:r>
              <a:rPr lang="en-US" sz="20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embedding_id</a:t>
            </a:r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": "</a:t>
            </a:r>
            <a:r>
              <a:rPr lang="en-US" sz="20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emb</a:t>
            </a:r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_ 90001"</a:t>
            </a:r>
          </a:p>
          <a:p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5A4BFA-B4A5-366A-E0B7-DAD669F36ACA}"/>
              </a:ext>
            </a:extLst>
          </p:cNvPr>
          <p:cNvSpPr txBox="1"/>
          <p:nvPr/>
        </p:nvSpPr>
        <p:spPr>
          <a:xfrm>
            <a:off x="6418729" y="1572439"/>
            <a:ext cx="4874111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Qdrant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Vector Storage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the embeddings generated and lightweight metadata: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“</a:t>
            </a:r>
            <a:r>
              <a:rPr lang="en-US" sz="20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embedding_id</a:t>
            </a:r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": "emb_90001 ",</a:t>
            </a:r>
          </a:p>
          <a:p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"vector": [.............],</a:t>
            </a:r>
          </a:p>
          <a:p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"payload": {</a:t>
            </a:r>
          </a:p>
          <a:p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	"</a:t>
            </a:r>
            <a:r>
              <a:rPr lang="en-US" sz="20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employee_id</a:t>
            </a:r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": " emp_90001 ",</a:t>
            </a:r>
          </a:p>
          <a:p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	"skills": ["Python", “ML"]</a:t>
            </a:r>
          </a:p>
          <a:p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FB4581-B095-3FFE-1737-9DA1467B8322}"/>
              </a:ext>
            </a:extLst>
          </p:cNvPr>
          <p:cNvSpPr txBox="1"/>
          <p:nvPr/>
        </p:nvSpPr>
        <p:spPr>
          <a:xfrm>
            <a:off x="1346050" y="6009828"/>
            <a:ext cx="9499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two are connected on “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employee_id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in both</a:t>
            </a:r>
          </a:p>
        </p:txBody>
      </p:sp>
    </p:spTree>
    <p:extLst>
      <p:ext uri="{BB962C8B-B14F-4D97-AF65-F5344CB8AC3E}">
        <p14:creationId xmlns:p14="http://schemas.microsoft.com/office/powerpoint/2010/main" val="1729884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9FFF4-829E-5CC8-0F0B-0D5CCE99E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C73BE-1166-883A-0C06-35775C42581F}"/>
              </a:ext>
            </a:extLst>
          </p:cNvPr>
          <p:cNvSpPr txBox="1">
            <a:spLocks/>
          </p:cNvSpPr>
          <p:nvPr/>
        </p:nvSpPr>
        <p:spPr>
          <a:xfrm>
            <a:off x="838200" y="666209"/>
            <a:ext cx="10515600" cy="99532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User Inputs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88CC1C-A7B0-7EE2-EB80-253F52599BD3}"/>
              </a:ext>
            </a:extLst>
          </p:cNvPr>
          <p:cNvSpPr txBox="1"/>
          <p:nvPr/>
        </p:nvSpPr>
        <p:spPr>
          <a:xfrm>
            <a:off x="888274" y="2100368"/>
            <a:ext cx="1041545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description text: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Detailed Job Description required for the project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list: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List containing various skills and Tools and Technologies worked on previously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experience: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Years of Experience</a:t>
            </a:r>
          </a:p>
        </p:txBody>
      </p:sp>
    </p:spTree>
    <p:extLst>
      <p:ext uri="{BB962C8B-B14F-4D97-AF65-F5344CB8AC3E}">
        <p14:creationId xmlns:p14="http://schemas.microsoft.com/office/powerpoint/2010/main" val="2284246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D464C-6D75-CE74-DEB9-6B4840333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E1EB6-E67F-6F1C-20E7-895D6F193767}"/>
              </a:ext>
            </a:extLst>
          </p:cNvPr>
          <p:cNvSpPr txBox="1">
            <a:spLocks/>
          </p:cNvSpPr>
          <p:nvPr/>
        </p:nvSpPr>
        <p:spPr>
          <a:xfrm>
            <a:off x="733697" y="460938"/>
            <a:ext cx="10515600" cy="99532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Matching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2D4DA2-7E89-ECC5-048A-2F5F013E13BF}"/>
              </a:ext>
            </a:extLst>
          </p:cNvPr>
          <p:cNvSpPr txBox="1"/>
          <p:nvPr/>
        </p:nvSpPr>
        <p:spPr>
          <a:xfrm>
            <a:off x="314209" y="1771012"/>
            <a:ext cx="384009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similarity</a:t>
            </a:r>
          </a:p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JD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embedding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Qdrant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top-k vector matches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Qdrant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 search)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DE4733-EC9A-972C-67B2-6B4EAEDAD6D5}"/>
              </a:ext>
            </a:extLst>
          </p:cNvPr>
          <p:cNvSpPr txBox="1"/>
          <p:nvPr/>
        </p:nvSpPr>
        <p:spPr>
          <a:xfrm>
            <a:off x="4676541" y="1771012"/>
            <a:ext cx="3169302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Match</a:t>
            </a:r>
          </a:p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keyword matching (NER Spacy),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Flashtext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BOW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skills from profile and JD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E94562-C1E6-FDDC-3192-16C096577343}"/>
              </a:ext>
            </a:extLst>
          </p:cNvPr>
          <p:cNvSpPr txBox="1"/>
          <p:nvPr/>
        </p:nvSpPr>
        <p:spPr>
          <a:xfrm>
            <a:off x="8334940" y="1771012"/>
            <a:ext cx="338167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Match</a:t>
            </a: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Regex Rules or Date Parsing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Years of Experience from Profile and JD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7AF367-9325-F84B-026D-1493DA6A4CB0}"/>
              </a:ext>
            </a:extLst>
          </p:cNvPr>
          <p:cNvCxnSpPr/>
          <p:nvPr/>
        </p:nvCxnSpPr>
        <p:spPr>
          <a:xfrm>
            <a:off x="4398857" y="1661531"/>
            <a:ext cx="0" cy="45722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5D7B1F3-F4F4-525B-9575-84735C3A2C6C}"/>
              </a:ext>
            </a:extLst>
          </p:cNvPr>
          <p:cNvCxnSpPr/>
          <p:nvPr/>
        </p:nvCxnSpPr>
        <p:spPr>
          <a:xfrm>
            <a:off x="8090391" y="1661532"/>
            <a:ext cx="0" cy="45722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206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61877-59CE-B0BE-8AC3-1227BD170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46D61-64AD-7305-CF5D-9322C652F88E}"/>
              </a:ext>
            </a:extLst>
          </p:cNvPr>
          <p:cNvSpPr txBox="1">
            <a:spLocks/>
          </p:cNvSpPr>
          <p:nvPr/>
        </p:nvSpPr>
        <p:spPr>
          <a:xfrm>
            <a:off x="838200" y="666209"/>
            <a:ext cx="10515600" cy="99532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Result format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D30BCC-0B27-2855-E03F-850EA5CFC09E}"/>
              </a:ext>
            </a:extLst>
          </p:cNvPr>
          <p:cNvSpPr txBox="1"/>
          <p:nvPr/>
        </p:nvSpPr>
        <p:spPr>
          <a:xfrm>
            <a:off x="1156288" y="2242515"/>
            <a:ext cx="987942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of Matching will be output in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format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python-docx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fill a company’s standard DOCX template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docx2pdf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LibreOffice CLI to export → PDF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the specified number of resumes (zip format)</a:t>
            </a:r>
          </a:p>
        </p:txBody>
      </p:sp>
    </p:spTree>
    <p:extLst>
      <p:ext uri="{BB962C8B-B14F-4D97-AF65-F5344CB8AC3E}">
        <p14:creationId xmlns:p14="http://schemas.microsoft.com/office/powerpoint/2010/main" val="2722594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B259E-C3A1-F72E-9879-93831522C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C8F92-33BC-B49E-B845-E8D840F088C7}"/>
              </a:ext>
            </a:extLst>
          </p:cNvPr>
          <p:cNvSpPr txBox="1">
            <a:spLocks/>
          </p:cNvSpPr>
          <p:nvPr/>
        </p:nvSpPr>
        <p:spPr>
          <a:xfrm>
            <a:off x="838200" y="666209"/>
            <a:ext cx="10515600" cy="99532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Tech Stack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F7AA4A-F33D-6F4C-964D-37D7D8D5B210}"/>
              </a:ext>
            </a:extLst>
          </p:cNvPr>
          <p:cNvSpPr txBox="1"/>
          <p:nvPr/>
        </p:nvSpPr>
        <p:spPr>
          <a:xfrm>
            <a:off x="1156288" y="1661533"/>
            <a:ext cx="987942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File-type Detection: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python-magic</a:t>
            </a:r>
          </a:p>
          <a:p>
            <a:pPr marL="360000" indent="-3600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-3600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Processing: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PyMuPDF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python-docx, Apache Tika,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PaddleOCR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-3600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-3600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 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Rule – base parsing, Regex, Predefined skill dictionary, BOW</a:t>
            </a:r>
          </a:p>
          <a:p>
            <a:pPr marL="360000" indent="-3600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-3600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(Semantics):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SentenceTransformers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miniLM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60000" indent="-3600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-3600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(JSON – Profiles),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VectorDB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(Embeddings + Mappings)</a:t>
            </a:r>
          </a:p>
          <a:p>
            <a:pPr marL="360000" indent="-3600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-3600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Matching: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Qdrant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Search (Cosine Similarity)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SkillMatch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-3600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-3600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Export: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docxtpl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Python-docx, doc2pdf /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LibreOfficeCLI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zipfile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smtp</a:t>
            </a:r>
          </a:p>
        </p:txBody>
      </p:sp>
    </p:spTree>
    <p:extLst>
      <p:ext uri="{BB962C8B-B14F-4D97-AF65-F5344CB8AC3E}">
        <p14:creationId xmlns:p14="http://schemas.microsoft.com/office/powerpoint/2010/main" val="83673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579</Words>
  <Application>Microsoft Office PowerPoint</Application>
  <PresentationFormat>Widescreen</PresentationFormat>
  <Paragraphs>161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Shivam Parab</dc:creator>
  <cp:lastModifiedBy>Shivam Parab</cp:lastModifiedBy>
  <cp:revision>4</cp:revision>
  <dcterms:created xsi:type="dcterms:W3CDTF">2025-11-19T03:51:41Z</dcterms:created>
  <dcterms:modified xsi:type="dcterms:W3CDTF">2025-11-19T10:33:16Z</dcterms:modified>
</cp:coreProperties>
</file>